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9j33ETbsJth5+efxdcDN26aWT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130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0" y="1371600"/>
            <a:ext cx="109728" cy="256032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365760" y="3051546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Calibri"/>
              <a:buNone/>
            </a:pPr>
            <a:r>
              <a:rPr lang="en-GB" sz="1300" b="0" i="1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 Analysis Report  ·  January – March 2026</a:t>
            </a:r>
            <a:endParaRPr sz="1300" b="0" i="0" u="none" strike="noStrike" cap="non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C9A3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84048" y="29260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5A3"/>
              </a:buClr>
              <a:buSzPts val="1400"/>
              <a:buFont typeface="Calibri"/>
              <a:buNone/>
            </a:pPr>
            <a:r>
              <a:rPr lang="en-GB" b="1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 PROGRAMME </a:t>
            </a:r>
            <a:r>
              <a:rPr lang="en-GB" sz="1400" b="1" i="0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·  DATA ANALYSIS REPORT</a:t>
            </a:r>
            <a:endParaRPr sz="1400" b="1" i="0" u="none" strike="noStrike" cap="non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84048" y="1058131"/>
            <a:ext cx="64008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Georgia"/>
              <a:buNone/>
            </a:pPr>
            <a:r>
              <a:rPr lang="en-GB" sz="6200" b="1" i="0" u="none" strike="noStrike" cap="none">
                <a:solidFill>
                  <a:srgbClr val="FF6B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GB" sz="6200" b="1">
                <a:solidFill>
                  <a:srgbClr val="FF6B00"/>
                </a:solidFill>
                <a:latin typeface="Georgia"/>
                <a:ea typeface="Georgia"/>
                <a:cs typeface="Georgia"/>
                <a:sym typeface="Georgia"/>
              </a:rPr>
              <a:t>PPLICATION</a:t>
            </a:r>
            <a:endParaRPr sz="6200" b="0" i="0" u="none" strike="noStrike" cap="none">
              <a:solidFill>
                <a:srgbClr val="FF6B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24065" y="1925165"/>
            <a:ext cx="64008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200"/>
              <a:buFont typeface="Georgia"/>
              <a:buNone/>
            </a:pPr>
            <a:r>
              <a:rPr lang="en-GB" sz="6200" b="1" i="0" u="none" strike="noStrike" cap="none">
                <a:solidFill>
                  <a:srgbClr val="FF6B00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sz="6200" b="0" i="0" u="none" strike="noStrike" cap="none">
              <a:solidFill>
                <a:srgbClr val="FF6B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"/>
          <p:cNvCxnSpPr/>
          <p:nvPr/>
        </p:nvCxnSpPr>
        <p:spPr>
          <a:xfrm>
            <a:off x="384048" y="3325697"/>
            <a:ext cx="4114800" cy="0"/>
          </a:xfrm>
          <a:prstGeom prst="straightConnector1">
            <a:avLst/>
          </a:prstGeom>
          <a:noFill/>
          <a:ln w="15225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1"/>
          <p:cNvSpPr/>
          <p:nvPr/>
        </p:nvSpPr>
        <p:spPr>
          <a:xfrm>
            <a:off x="384048" y="351677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PREPARED BY</a:t>
            </a:r>
            <a:endParaRPr sz="1100" b="0" i="0" u="none" strike="noStrike" cap="non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384049" y="3675570"/>
            <a:ext cx="1746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Vivian Okwara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13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219075" y="233761"/>
            <a:ext cx="82296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</a:pPr>
            <a:r>
              <a:rPr lang="en-GB" sz="3400" b="1" i="0" u="none" strike="noStrike" cap="none">
                <a:solidFill>
                  <a:srgbClr val="F57C00"/>
                </a:solidFill>
                <a:latin typeface="Georgia"/>
                <a:ea typeface="Georgia"/>
                <a:cs typeface="Georgia"/>
                <a:sym typeface="Georgia"/>
              </a:rPr>
              <a:t>PROJECT OVERVIEW|</a:t>
            </a:r>
            <a:r>
              <a:rPr lang="en-GB" sz="1100" i="1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Tech Programme Report </a:t>
            </a:r>
            <a:r>
              <a:rPr lang="en-GB" sz="1100" b="0" i="1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 Jan- Mar 2026</a:t>
            </a:r>
            <a:endParaRPr sz="11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Georgia"/>
              <a:buNone/>
            </a:pPr>
            <a:endParaRPr sz="2600" b="1" i="0" u="none" strike="noStrike" cap="none">
              <a:solidFill>
                <a:srgbClr val="FF6B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78600" y="1865150"/>
            <a:ext cx="4048200" cy="887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72647" y="1864999"/>
            <a:ext cx="502800" cy="88710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84559" y="1982629"/>
            <a:ext cx="50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997979" y="1962631"/>
            <a:ext cx="1638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Application Volume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endParaRPr sz="130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37250" y="2356253"/>
            <a:ext cx="334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total, unique, and repeat application counts across all roles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endParaRPr sz="11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683925" y="1876925"/>
            <a:ext cx="4048200" cy="86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683900" y="1871025"/>
            <a:ext cx="502800" cy="86280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672013" y="1988582"/>
            <a:ext cx="50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343767" y="1968584"/>
            <a:ext cx="2179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Role Performance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endParaRPr sz="130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237628" y="2326478"/>
            <a:ext cx="301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most and least applied-for roles across 16 categories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272666" y="2883575"/>
            <a:ext cx="4048200" cy="86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72541" y="3860075"/>
            <a:ext cx="4048200" cy="82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272666" y="3854149"/>
            <a:ext cx="502800" cy="82740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72666" y="3925569"/>
            <a:ext cx="502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72966" y="3885972"/>
            <a:ext cx="1423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78619" y="2883575"/>
            <a:ext cx="502800" cy="86280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801528" y="4249822"/>
            <a:ext cx="157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data tells 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260747" y="2977039"/>
            <a:ext cx="50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801528" y="2957031"/>
            <a:ext cx="190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Timing &amp; Trends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endParaRPr sz="130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19392" y="3344688"/>
            <a:ext cx="334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activity patterns by month, week, and day of week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683925" y="2865325"/>
            <a:ext cx="4048200" cy="86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689872" y="2871659"/>
            <a:ext cx="502800" cy="86280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695825" y="2959179"/>
            <a:ext cx="502800" cy="640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337805" y="2915359"/>
            <a:ext cx="1572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Payment Analysis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endParaRPr sz="130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290172" y="3314928"/>
            <a:ext cx="3293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payment compliance and identify unknown or unpaid records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672025" y="3854150"/>
            <a:ext cx="4048200" cy="82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672025" y="3848000"/>
            <a:ext cx="502800" cy="82740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660106" y="3935730"/>
            <a:ext cx="50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409244" y="3880019"/>
            <a:ext cx="190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349704" y="4226356"/>
            <a:ext cx="284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 to improve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84651" y="960050"/>
            <a:ext cx="84357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GB" sz="12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Three months of </a:t>
            </a:r>
            <a:r>
              <a:rPr lang="en-GB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 Programme</a:t>
            </a:r>
            <a:r>
              <a:rPr lang="en-GB" sz="12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 was examined to understand application patterns, role demand, payment trends, and engagement behaviour.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C1130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200" y="307896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KEY METRICS AT A GLANCE</a:t>
            </a: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106" y="1093474"/>
            <a:ext cx="1600200" cy="1063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054" y="1093470"/>
            <a:ext cx="1600200" cy="2286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054" y="1195149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313</a:t>
            </a:r>
            <a:endParaRPr sz="22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054" y="1662589"/>
            <a:ext cx="160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Applications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9047" y="2492444"/>
            <a:ext cx="1600200" cy="1063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976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047" y="2492444"/>
            <a:ext cx="1600200" cy="165900"/>
          </a:xfrm>
          <a:prstGeom prst="rect">
            <a:avLst/>
          </a:prstGeom>
          <a:solidFill>
            <a:srgbClr val="1976D2"/>
          </a:solidFill>
          <a:ln w="12700" cap="flat" cmpd="sng">
            <a:solidFill>
              <a:srgbClr val="1976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9047" y="2691769"/>
            <a:ext cx="16002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281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9047" y="3156862"/>
            <a:ext cx="16002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Applicants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624159" y="3354725"/>
            <a:ext cx="1600200" cy="1118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624159" y="3354725"/>
            <a:ext cx="1600200" cy="1749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624159" y="3564448"/>
            <a:ext cx="16002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91.2%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624159" y="4053799"/>
            <a:ext cx="1600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 Rate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1919" y="3879953"/>
            <a:ext cx="1600200" cy="1063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1919" y="3879953"/>
            <a:ext cx="1600200" cy="1662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1919" y="4079295"/>
            <a:ext cx="16002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Feb 2026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1919" y="4544426"/>
            <a:ext cx="16002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 Month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574609" y="1605442"/>
            <a:ext cx="1600200" cy="1063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574609" y="1605442"/>
            <a:ext cx="1600200" cy="16620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574609" y="1804784"/>
            <a:ext cx="16002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Tuesday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574609" y="2269915"/>
            <a:ext cx="16002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Active Day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1663525" y="1379259"/>
            <a:ext cx="2826300" cy="7773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1671700" y="1498541"/>
            <a:ext cx="2853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were received between January and March 2026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687350" y="4165850"/>
            <a:ext cx="2853900" cy="7773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697166" y="4320857"/>
            <a:ext cx="2699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alone drove over 73% of all applications - the single most active month, far outpacing January and March.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675450" y="2759409"/>
            <a:ext cx="2853900" cy="777300"/>
          </a:xfrm>
          <a:prstGeom prst="rect">
            <a:avLst/>
          </a:prstGeom>
          <a:solidFill>
            <a:srgbClr val="D9D2E9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677470" y="2938229"/>
            <a:ext cx="2699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confirming active programme engagement.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181969" y="1884278"/>
            <a:ext cx="2853900" cy="7773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191008" y="2003579"/>
            <a:ext cx="2715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saw the highest weekly traffic, while Virtual Assistant roles attracted 51.2% of all application interest.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242225" y="3696125"/>
            <a:ext cx="2793600" cy="7773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391963" y="3833285"/>
            <a:ext cx="2581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1 unpaid application was recorded - but 24 records remain Unknown, requiring follow-up to confirm payment status.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13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14400" y="1371600"/>
            <a:ext cx="73152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4100" b="0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VISUALIZATION FINDINGS</a:t>
            </a:r>
            <a:endParaRPr sz="6300" b="0" i="0" u="none" strike="noStrike" cap="none">
              <a:solidFill>
                <a:srgbClr val="FF6B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14400" y="2285549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GB" sz="1100" i="1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 Programme </a:t>
            </a:r>
            <a:r>
              <a:rPr lang="en-GB" sz="1100" b="0" i="1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Data Analysis |  June 2026</a:t>
            </a:r>
            <a:endParaRPr sz="1100" b="0" i="0" u="none" strike="noStrike" cap="non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APPLICATION ANALYSIS</a:t>
            </a:r>
            <a:endParaRPr sz="2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Role Distribution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852160" y="1097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Top Insights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760720" y="1554480"/>
            <a:ext cx="3108960" cy="1005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760720" y="1554480"/>
            <a:ext cx="73152" cy="100584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943600" y="16002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39.9%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943600" y="2057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Assistant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760720" y="2743200"/>
            <a:ext cx="3108960" cy="1005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760720" y="2743200"/>
            <a:ext cx="73152" cy="100584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943600" y="27889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22.4%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943600" y="3246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760720" y="3931920"/>
            <a:ext cx="3108960" cy="1005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760720" y="3931920"/>
            <a:ext cx="73152" cy="100584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943600" y="3977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12.5%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Assistant</a:t>
            </a: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750" y="1554480"/>
            <a:ext cx="5165090" cy="338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PAYMENT ANALYSIS</a:t>
            </a:r>
            <a:endParaRPr sz="2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08264"/>
            <a:ext cx="4572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577840" y="12344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281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76656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Confirmed Paid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486400" y="2103120"/>
            <a:ext cx="32918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4433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577840" y="21488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4336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F443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Confirmed Unpaid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486400" y="3017520"/>
            <a:ext cx="32918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577840" y="30632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766560" y="32004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Unknown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486400" y="3931920"/>
            <a:ext cx="329184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577840" y="39776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91.1%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766560" y="41148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TREND ANALYSIS</a:t>
            </a:r>
            <a:endParaRPr sz="2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Monthly Trend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By Day of 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686" y="1371601"/>
            <a:ext cx="4164993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0005" y="1371599"/>
            <a:ext cx="3868258" cy="22002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339804" y="3645456"/>
            <a:ext cx="4206300" cy="6858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39804" y="3645456"/>
            <a:ext cx="73200" cy="6858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04396" y="3682032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GB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Slow Start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04396" y="3965496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January recorded only 62 applications - the lowest of the period, averaging 15 per week.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39804" y="4398883"/>
            <a:ext cx="4206300" cy="6858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39804" y="4398883"/>
            <a:ext cx="73200" cy="6858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04396" y="443545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GB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Sharp Drop-off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4396" y="4718923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March fell to just 15 applications - signalling the intake window closed abruptly.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754880" y="3675221"/>
            <a:ext cx="4206300" cy="6858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754880" y="3675221"/>
            <a:ext cx="73200" cy="685800"/>
          </a:xfrm>
          <a:prstGeom prst="rect">
            <a:avLst/>
          </a:prstGeom>
          <a:solidFill>
            <a:srgbClr val="4A86E8"/>
          </a:solidFill>
          <a:ln w="127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919472" y="3711797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GB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February Surge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919472" y="3995261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205 applications in February alone -73% of all activity. A critical promotional window</a:t>
            </a:r>
            <a:r>
              <a:rPr lang="en-GB"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748927" y="4416743"/>
            <a:ext cx="4206300" cy="6858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748927" y="4416743"/>
            <a:ext cx="73200" cy="685800"/>
          </a:xfrm>
          <a:prstGeom prst="rect">
            <a:avLst/>
          </a:prstGeom>
          <a:solidFill>
            <a:srgbClr val="4A86E8"/>
          </a:solidFill>
          <a:ln w="127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913519" y="445331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GB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Tuesday Rush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913519" y="4736783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Tuesdays are peak day with 66 applications. Saturday (49) is the second busiest.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C1130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sz="2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74320" y="1097280"/>
            <a:ext cx="420624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74320" y="1097280"/>
            <a:ext cx="91440" cy="109728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11704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VA Roles Dominate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15544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39.9% of all applications are for Virtual Assistant roles - the most in-demand position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846320" y="1097280"/>
            <a:ext cx="420624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976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846320" y="1097280"/>
            <a:ext cx="91440" cy="1097280"/>
          </a:xfrm>
          <a:prstGeom prst="rect">
            <a:avLst/>
          </a:prstGeom>
          <a:solidFill>
            <a:srgbClr val="1976D2"/>
          </a:solidFill>
          <a:ln w="12700" cap="flat" cmpd="sng">
            <a:solidFill>
              <a:srgbClr val="1976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029200" y="11704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6D2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1976D2"/>
                </a:solidFill>
                <a:latin typeface="Calibri"/>
                <a:ea typeface="Calibri"/>
                <a:cs typeface="Calibri"/>
                <a:sym typeface="Calibri"/>
              </a:rPr>
              <a:t>February Peak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029200" y="155448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73% of all applications came in February - a clear promotional spike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274320" y="2377440"/>
            <a:ext cx="91440" cy="109728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24505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Strong Payment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57200" y="283464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91.1% payment compliance rate shows high applicant commitment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846320" y="2377440"/>
            <a:ext cx="91440" cy="109728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029200" y="24505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Tuesday Rush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029200" y="28346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Tuesdays are the busiest day - ideal for announcements and reminders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74320" y="3657600"/>
            <a:ext cx="420624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274320" y="3657600"/>
            <a:ext cx="91440" cy="109728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37307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Low Tech Uptake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7200" y="41148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UI/UX Design, Graphic Design, IT,Video Editing, Design and Creative and  Backend Developer roles received very few applications. Targeted promotion is needed to grow these categories.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846320" y="3657600"/>
            <a:ext cx="420624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846320" y="3657600"/>
            <a:ext cx="91440" cy="1097280"/>
          </a:xfrm>
          <a:prstGeom prst="rect">
            <a:avLst/>
          </a:prstGeom>
          <a:solidFill>
            <a:srgbClr val="F57C00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029200" y="37307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Repeat Applicants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029200" y="411480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applicants submitted more than once - needs a deduplication policy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C1130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9A8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2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74320" y="1097280"/>
            <a:ext cx="594360" cy="6858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74320" y="1097280"/>
            <a:ext cx="594360" cy="685800"/>
          </a:xfrm>
          <a:prstGeom prst="rect">
            <a:avLst/>
          </a:prstGeom>
          <a:solidFill>
            <a:srgbClr val="4C1130"/>
          </a:solidFill>
          <a:ln w="9525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005840" y="11338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GB" sz="11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Set Deduplication Policy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005840" y="144475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one active application per person per cohort to keep data clean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74320" y="1865376"/>
            <a:ext cx="859536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74320" y="1865376"/>
            <a:ext cx="594360" cy="6858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274320" y="1865376"/>
            <a:ext cx="594360" cy="685800"/>
          </a:xfrm>
          <a:prstGeom prst="rect">
            <a:avLst/>
          </a:prstGeom>
          <a:solidFill>
            <a:srgbClr val="4C1130"/>
          </a:solidFill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005840" y="1901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GB" sz="11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Resolve Unknown Payments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05840" y="221284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 up on 24 Unknown payment records to confirm or update status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274320" y="2633472"/>
            <a:ext cx="8595360" cy="6858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274320" y="2633472"/>
            <a:ext cx="594360" cy="6858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274320" y="2633472"/>
            <a:ext cx="594360" cy="685800"/>
          </a:xfrm>
          <a:prstGeom prst="rect">
            <a:avLst/>
          </a:prstGeom>
          <a:solidFill>
            <a:srgbClr val="4C1130"/>
          </a:solidFill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005840" y="267004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GB" sz="11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Spread Promotions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005840" y="2980944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Stagger campaigns across January and February to avoid feast-or-famine intake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274320" y="3401568"/>
            <a:ext cx="859536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74320" y="3401568"/>
            <a:ext cx="594360" cy="6858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274320" y="3401568"/>
            <a:ext cx="594360" cy="685800"/>
          </a:xfrm>
          <a:prstGeom prst="rect">
            <a:avLst/>
          </a:prstGeom>
          <a:solidFill>
            <a:srgbClr val="4C1130"/>
          </a:solidFill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005840" y="343814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GB" sz="11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Promote Technical Roles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05840" y="37490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 visibility on low performing roles to diversify pool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274320" y="4169664"/>
            <a:ext cx="8595360" cy="6858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274320" y="4169664"/>
            <a:ext cx="594360" cy="6858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74320" y="4169664"/>
            <a:ext cx="594360" cy="685800"/>
          </a:xfrm>
          <a:prstGeom prst="rect">
            <a:avLst/>
          </a:prstGeom>
          <a:solidFill>
            <a:srgbClr val="4C1130"/>
          </a:solidFill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005840" y="4206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GB" sz="11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Schedule on Mondays/Tuesdays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005840" y="451713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key communications to align with peak application days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4C1130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9A8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182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GB" sz="2400" b="1" i="0" u="none" strike="noStrike" cap="non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2400" b="0" i="0" u="none" strike="noStrike" cap="none">
              <a:solidFill>
                <a:srgbClr val="F57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78606" y="110018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analysis reveals a programme with strong demand, healthy payment compliance, and a concentrated intake pattern that can be optimized with the right data-driven strategies.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51447" y="1633538"/>
            <a:ext cx="8412600" cy="10059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51448" y="1633538"/>
            <a:ext cx="73200" cy="10059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34328" y="170669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Strong VA Demand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34328" y="2090738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Assistant and Customer Support roles together represent 72% of all applications, confirming strong demand for administrative and support-focused professionals.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33588" y="2764631"/>
            <a:ext cx="8412600" cy="1005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33588" y="2764631"/>
            <a:ext cx="73200" cy="100590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16468" y="2837783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Seasonal Peak in February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316468" y="3221831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spiked sharply in February and dropped steeply in March. Early January campaigns can capture this intent and extend engagement through the quarter.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27635" y="3931444"/>
            <a:ext cx="8412600" cy="1005900"/>
          </a:xfrm>
          <a:prstGeom prst="rect">
            <a:avLst/>
          </a:prstGeom>
          <a:solidFill>
            <a:srgbClr val="FFF3E6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27635" y="3931444"/>
            <a:ext cx="73200" cy="1005900"/>
          </a:xfrm>
          <a:prstGeom prst="rect">
            <a:avLst/>
          </a:prstGeom>
          <a:solidFill>
            <a:srgbClr val="FF6B00"/>
          </a:solidFill>
          <a:ln w="12700" cap="flat" cmpd="sng">
            <a:solidFill>
              <a:srgbClr val="FF6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10515" y="4004596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Data-Driven Growth Opportunity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10515" y="4388644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19 repeat applicants, 24 unconfirmed payments, and several low-uptake roles, targeted re-engagement and better role promotion can significantly improve outcomes.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130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F5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14400" y="1371600"/>
            <a:ext cx="73152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4800"/>
              <a:buFont typeface="Calibri"/>
              <a:buNone/>
            </a:pPr>
            <a:r>
              <a:rPr lang="en-GB" sz="4800" b="1" i="0" u="none" strike="noStrike" cap="non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914400" y="310896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GB" sz="1200" b="0" i="1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Prepared by: Vivian  |  </a:t>
            </a:r>
            <a:r>
              <a:rPr lang="en-GB" sz="1200" i="1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 Programme </a:t>
            </a:r>
            <a:r>
              <a:rPr lang="en-GB" sz="1200" b="0" i="1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Data Analysis |  June 2026</a:t>
            </a:r>
            <a:endParaRPr sz="1200" b="0" i="0" u="none" strike="noStrike" cap="non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On-screen Show (16:9)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modified xsi:type="dcterms:W3CDTF">2026-06-19T20:18:31Z</dcterms:modified>
</cp:coreProperties>
</file>